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1"/>
  </p:notesMasterIdLst>
  <p:sldIdLst>
    <p:sldId id="256" r:id="rId2"/>
    <p:sldId id="258" r:id="rId3"/>
    <p:sldId id="260" r:id="rId4"/>
    <p:sldId id="261" r:id="rId5"/>
    <p:sldId id="265" r:id="rId6"/>
    <p:sldId id="257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987" autoAdjust="0"/>
    <p:restoredTop sz="79883" autoAdjust="0"/>
  </p:normalViewPr>
  <p:slideViewPr>
    <p:cSldViewPr snapToGrid="0">
      <p:cViewPr varScale="1">
        <p:scale>
          <a:sx n="78" d="100"/>
          <a:sy n="78" d="100"/>
        </p:scale>
        <p:origin x="835" y="43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D4985EB-AB48-4D4C-A791-01344C058292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E93D810-E0CD-46C0-B85F-7C58852E56C1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29795607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s-E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El repositorio contiene el diseño y la implementación de una base de datos de dos </a:t>
            </a:r>
            <a:r>
              <a:rPr lang="es-E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bootcamps</a:t>
            </a:r>
            <a:r>
              <a:rPr lang="es-E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(Data </a:t>
            </a:r>
            <a:r>
              <a:rPr lang="es-E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Science</a:t>
            </a:r>
            <a:r>
              <a:rPr lang="es-E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y Full </a:t>
            </a:r>
            <a:r>
              <a:rPr lang="es-ES" sz="1200" b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Stack</a:t>
            </a:r>
            <a:r>
              <a:rPr lang="es-ES" sz="1200" b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y dos promociones (Sept. 2023 y Febr. 2024). Contiene información sobre alumnos, profesores, promociones, campus y proyectos realizados por los alumnos. </a:t>
            </a:r>
          </a:p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3D810-E0CD-46C0-B85F-7C58852E56C1}" type="slidenum">
              <a:rPr lang="es-ES" smtClean="0"/>
              <a:t>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5345844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Explicación del modelo lógico y la estructura de la tabla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3D810-E0CD-46C0-B85F-7C58852E56C1}" type="slidenum">
              <a:rPr lang="es-ES" smtClean="0"/>
              <a:t>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371742729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s-ES" dirty="0"/>
              <a:t>Una vez diseñado el modelo, comenzamos a trabajar en la parte técnica</a:t>
            </a:r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3D810-E0CD-46C0-B85F-7C58852E56C1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58297628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1E93D810-E0CD-46C0-B85F-7C58852E56C1}" type="slidenum">
              <a:rPr lang="es-ES" smtClean="0"/>
              <a:t>9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23893372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4212" y="685799"/>
            <a:ext cx="8001000" cy="2971801"/>
          </a:xfrm>
        </p:spPr>
        <p:txBody>
          <a:bodyPr anchor="b">
            <a:normAutofit/>
          </a:bodyPr>
          <a:lstStyle>
            <a:lvl1pPr algn="l">
              <a:defRPr sz="4800">
                <a:effectLst/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4212" y="3843867"/>
            <a:ext cx="6400800" cy="1947333"/>
          </a:xfrm>
        </p:spPr>
        <p:txBody>
          <a:bodyPr anchor="t">
            <a:normAutofit/>
          </a:bodyPr>
          <a:lstStyle>
            <a:lvl1pPr marL="0" indent="0" algn="l">
              <a:buNone/>
              <a:defRPr sz="21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  <p:cxnSp>
        <p:nvCxnSpPr>
          <p:cNvPr id="16" name="Straight Connector 15"/>
          <p:cNvCxnSpPr/>
          <p:nvPr/>
        </p:nvCxnSpPr>
        <p:spPr>
          <a:xfrm flipH="1">
            <a:off x="8228012" y="8467"/>
            <a:ext cx="3810000" cy="3810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Straight Connector 16"/>
          <p:cNvCxnSpPr/>
          <p:nvPr/>
        </p:nvCxnSpPr>
        <p:spPr>
          <a:xfrm flipH="1">
            <a:off x="6108170" y="91545"/>
            <a:ext cx="6080655" cy="6080655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Connector 18"/>
          <p:cNvCxnSpPr/>
          <p:nvPr/>
        </p:nvCxnSpPr>
        <p:spPr>
          <a:xfrm flipH="1">
            <a:off x="7235825" y="228600"/>
            <a:ext cx="4953000" cy="495300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Connector 20"/>
          <p:cNvCxnSpPr/>
          <p:nvPr/>
        </p:nvCxnSpPr>
        <p:spPr>
          <a:xfrm flipH="1">
            <a:off x="7335837" y="32278"/>
            <a:ext cx="4852989" cy="485298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Straight Connector 22"/>
          <p:cNvCxnSpPr/>
          <p:nvPr/>
        </p:nvCxnSpPr>
        <p:spPr>
          <a:xfrm flipH="1">
            <a:off x="7845426" y="609601"/>
            <a:ext cx="4343399" cy="4343399"/>
          </a:xfrm>
          <a:prstGeom prst="line">
            <a:avLst/>
          </a:prstGeom>
          <a:ln w="3175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6109444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18440085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1" y="2006600"/>
            <a:ext cx="8534401" cy="2281600"/>
          </a:xfrm>
        </p:spPr>
        <p:txBody>
          <a:bodyPr anchor="b">
            <a:normAutofit/>
          </a:bodyPr>
          <a:lstStyle>
            <a:lvl1pPr algn="l">
              <a:defRPr sz="36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495800"/>
            <a:ext cx="8534400" cy="14986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74110332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4211" y="685800"/>
            <a:ext cx="4937655" cy="3615267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808133" y="685801"/>
            <a:ext cx="4934479" cy="3615266"/>
          </a:xfrm>
        </p:spPr>
        <p:txBody>
          <a:bodyPr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71892471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72080" y="685800"/>
            <a:ext cx="4649787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4211" y="1270529"/>
            <a:ext cx="4937655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079066" y="685800"/>
            <a:ext cx="4665134" cy="576262"/>
          </a:xfrm>
        </p:spPr>
        <p:txBody>
          <a:bodyPr anchor="b">
            <a:noAutofit/>
          </a:bodyPr>
          <a:lstStyle>
            <a:lvl1pPr marL="0" indent="0">
              <a:buNone/>
              <a:defRPr sz="2800" b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806545" y="1262062"/>
            <a:ext cx="4929188" cy="3030538"/>
          </a:xfrm>
        </p:spPr>
        <p:txBody>
          <a:bodyPr anchor="t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0775101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24930671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3237456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085012" y="685800"/>
            <a:ext cx="3657600" cy="1371600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84212" y="685800"/>
            <a:ext cx="5943601" cy="5308600"/>
          </a:xfrm>
        </p:spPr>
        <p:txBody>
          <a:bodyPr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085012" y="2209799"/>
            <a:ext cx="3657600" cy="2091267"/>
          </a:xfrm>
        </p:spPr>
        <p:txBody>
          <a:bodyPr anchor="t"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62461719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2812" y="1447800"/>
            <a:ext cx="6019800" cy="1143000"/>
          </a:xfrm>
        </p:spPr>
        <p:txBody>
          <a:bodyPr anchor="b">
            <a:normAutofit/>
          </a:bodyPr>
          <a:lstStyle>
            <a:lvl1pPr algn="l">
              <a:defRPr sz="2800" b="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4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989012" y="914400"/>
            <a:ext cx="3280974" cy="45720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2812" y="2777066"/>
            <a:ext cx="6021388" cy="2048933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88680084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Imagen panorámic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7" name="Picture Placeholder 2"/>
          <p:cNvSpPr>
            <a:spLocks noGrp="1" noChangeAspect="1"/>
          </p:cNvSpPr>
          <p:nvPr>
            <p:ph type="pic" idx="13"/>
          </p:nvPr>
        </p:nvSpPr>
        <p:spPr>
          <a:xfrm>
            <a:off x="685800" y="533400"/>
            <a:ext cx="10818812" cy="3124200"/>
          </a:xfrm>
          <a:prstGeom prst="snip2DiagRect">
            <a:avLst>
              <a:gd name="adj1" fmla="val 10815"/>
              <a:gd name="adj2" fmla="val 0"/>
            </a:avLst>
          </a:prstGeom>
          <a:ln w="15875">
            <a:solidFill>
              <a:schemeClr val="tx1">
                <a:alpha val="40000"/>
              </a:schemeClr>
            </a:solidFill>
          </a:ln>
          <a:effectLst>
            <a:innerShdw blurRad="57150" dist="38100" dir="14460000">
              <a:srgbClr val="000000">
                <a:alpha val="70000"/>
              </a:srgbClr>
            </a:inn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es-ES"/>
              <a:t>Haga clic en el icono para agregar una imagen</a:t>
            </a:r>
            <a:endParaRPr lang="en-US" dirty="0"/>
          </a:p>
        </p:txBody>
      </p:sp>
      <p:sp>
        <p:nvSpPr>
          <p:cNvPr id="16" name="Text Placeholder 9"/>
          <p:cNvSpPr>
            <a:spLocks noGrp="1"/>
          </p:cNvSpPr>
          <p:nvPr>
            <p:ph type="body" sz="quarter" idx="14"/>
          </p:nvPr>
        </p:nvSpPr>
        <p:spPr>
          <a:xfrm>
            <a:off x="914402" y="3843867"/>
            <a:ext cx="8304210" cy="457200"/>
          </a:xfrm>
        </p:spPr>
        <p:txBody>
          <a:bodyPr anchor="t">
            <a:normAutofit/>
          </a:bodyPr>
          <a:lstStyle>
            <a:lvl1pPr marL="0" indent="0">
              <a:buFontTx/>
              <a:buNone/>
              <a:defRPr sz="1600"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6728886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ítulo y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anchor="ctr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4114800"/>
            <a:ext cx="8535988" cy="1879600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4536765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 con descrip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85800"/>
            <a:ext cx="9144001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1446212" y="3429000"/>
            <a:ext cx="8534400" cy="381000"/>
          </a:xfrm>
        </p:spPr>
        <p:txBody>
          <a:bodyPr anchor="ctr"/>
          <a:lstStyle>
            <a:lvl1pPr marL="0" indent="0">
              <a:buFontTx/>
              <a:buNone/>
              <a:defRPr/>
            </a:lvl1pPr>
            <a:lvl2pPr marL="457200" indent="0">
              <a:buFontTx/>
              <a:buNone/>
              <a:defRPr/>
            </a:lvl2pPr>
            <a:lvl3pPr marL="914400" indent="0">
              <a:buFontTx/>
              <a:buNone/>
              <a:defRPr/>
            </a:lvl3pPr>
            <a:lvl4pPr marL="1371600" indent="0">
              <a:buFontTx/>
              <a:buNone/>
              <a:defRPr/>
            </a:lvl4pPr>
            <a:lvl5pPr marL="1828800" indent="0">
              <a:buFontTx/>
              <a:buNone/>
              <a:defRPr/>
            </a:lvl5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3" y="4301067"/>
            <a:ext cx="8534400" cy="1684865"/>
          </a:xfrm>
        </p:spPr>
        <p:txBody>
          <a:bodyPr anchor="ctr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  <p:sp>
        <p:nvSpPr>
          <p:cNvPr id="14" name="TextBox 13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3775223668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2" y="3429000"/>
            <a:ext cx="8534400" cy="1697400"/>
          </a:xfrm>
        </p:spPr>
        <p:txBody>
          <a:bodyPr anchor="b">
            <a:normAutofit/>
          </a:bodyPr>
          <a:lstStyle>
            <a:lvl1pPr algn="l">
              <a:defRPr sz="3200" b="0" cap="all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5132981"/>
            <a:ext cx="8535990" cy="8604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01963082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itar la tarjeta de nomb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85800"/>
            <a:ext cx="9144000" cy="2743200"/>
          </a:xfrm>
        </p:spPr>
        <p:txBody>
          <a:bodyPr anchor="ctr">
            <a:normAutofit/>
          </a:bodyPr>
          <a:lstStyle>
            <a:lvl1pPr algn="l">
              <a:defRPr sz="3200" b="0" cap="all">
                <a:solidFill>
                  <a:schemeClr val="tx1"/>
                </a:solidFill>
              </a:defRPr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1" cy="1049866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978400"/>
            <a:ext cx="8534401" cy="1016000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  <p:sp>
        <p:nvSpPr>
          <p:cNvPr id="11" name="TextBox 10"/>
          <p:cNvSpPr txBox="1"/>
          <p:nvPr/>
        </p:nvSpPr>
        <p:spPr>
          <a:xfrm>
            <a:off x="531812" y="81222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85412" y="2768601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62558705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Verdadero o fals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4213" y="685800"/>
            <a:ext cx="10058400" cy="2743200"/>
          </a:xfrm>
        </p:spPr>
        <p:txBody>
          <a:bodyPr vert="horz" lIns="91440" tIns="45720" rIns="91440" bIns="45720" rtlCol="0" anchor="ctr">
            <a:normAutofit/>
          </a:bodyPr>
          <a:lstStyle>
            <a:lvl1pPr>
              <a:defRPr lang="en-US" b="0" dirty="0"/>
            </a:lvl1pPr>
          </a:lstStyle>
          <a:p>
            <a:pPr marL="0" lvl="0"/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sz="quarter" idx="13"/>
          </p:nvPr>
        </p:nvSpPr>
        <p:spPr>
          <a:xfrm>
            <a:off x="684212" y="3928534"/>
            <a:ext cx="8534400" cy="838200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buNone/>
              <a:defRPr lang="en-US" sz="2400" b="0" cap="all" dirty="0">
                <a:ln w="3175" cmpd="sng">
                  <a:noFill/>
                </a:ln>
                <a:solidFill>
                  <a:schemeClr val="tx1"/>
                </a:solidFill>
                <a:effectLst/>
              </a:defRPr>
            </a:lvl1pPr>
          </a:lstStyle>
          <a:p>
            <a:pPr marL="0" lvl="0">
              <a:spcBef>
                <a:spcPct val="0"/>
              </a:spcBef>
              <a:buNone/>
            </a:pPr>
            <a:r>
              <a:rPr lang="es-ES"/>
              <a:t>Haga clic para modificar los estilos de texto del patrón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1" y="4766732"/>
            <a:ext cx="8534401" cy="1227667"/>
          </a:xfrm>
        </p:spPr>
        <p:txBody>
          <a:bodyPr anchor="t">
            <a:normAutofit/>
          </a:bodyPr>
          <a:lstStyle>
            <a:lvl1pPr marL="0" indent="0" algn="l">
              <a:buNone/>
              <a:defRPr sz="1800">
                <a:solidFill>
                  <a:schemeClr val="bg2">
                    <a:lumMod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los estilos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5748736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 algn="l">
              <a:defRPr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487053222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685212" y="685800"/>
            <a:ext cx="2057400" cy="4572000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5800" y="685800"/>
            <a:ext cx="7823200" cy="5308600"/>
          </a:xfrm>
        </p:spPr>
        <p:txBody>
          <a:bodyPr vert="eaVert" anchor="t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4179243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" name="Group 6"/>
          <p:cNvGrpSpPr/>
          <p:nvPr/>
        </p:nvGrpSpPr>
        <p:grpSpPr>
          <a:xfrm>
            <a:off x="9206969" y="2963333"/>
            <a:ext cx="2981858" cy="3208867"/>
            <a:chOff x="9206969" y="2963333"/>
            <a:chExt cx="2981858" cy="3208867"/>
          </a:xfrm>
        </p:grpSpPr>
        <p:cxnSp>
          <p:nvCxnSpPr>
            <p:cNvPr id="8" name="Straight Connector 7"/>
            <p:cNvCxnSpPr/>
            <p:nvPr/>
          </p:nvCxnSpPr>
          <p:spPr>
            <a:xfrm flipH="1">
              <a:off x="11276012" y="2963333"/>
              <a:ext cx="912814" cy="912812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/>
            <p:cNvCxnSpPr/>
            <p:nvPr/>
          </p:nvCxnSpPr>
          <p:spPr>
            <a:xfrm flipH="1">
              <a:off x="9206969" y="3190344"/>
              <a:ext cx="2981857" cy="2981856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Connector 9"/>
            <p:cNvCxnSpPr/>
            <p:nvPr/>
          </p:nvCxnSpPr>
          <p:spPr>
            <a:xfrm flipH="1">
              <a:off x="10292292" y="3285067"/>
              <a:ext cx="1896534" cy="1896533"/>
            </a:xfrm>
            <a:prstGeom prst="line">
              <a:avLst/>
            </a:prstGeom>
            <a:ln w="952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1" name="Straight Connector 10"/>
            <p:cNvCxnSpPr/>
            <p:nvPr/>
          </p:nvCxnSpPr>
          <p:spPr>
            <a:xfrm flipH="1">
              <a:off x="10443103" y="3131080"/>
              <a:ext cx="1745722" cy="174572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" name="Straight Connector 11"/>
            <p:cNvCxnSpPr/>
            <p:nvPr/>
          </p:nvCxnSpPr>
          <p:spPr>
            <a:xfrm flipH="1">
              <a:off x="10918826" y="3683001"/>
              <a:ext cx="1270001" cy="1269999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4212" y="4487332"/>
            <a:ext cx="8534400" cy="1507067"/>
          </a:xfrm>
          <a:prstGeom prst="rect">
            <a:avLst/>
          </a:prstGeom>
          <a:effectLst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4212" y="685800"/>
            <a:ext cx="8534400" cy="3615267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9904412" y="6172200"/>
            <a:ext cx="16002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r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37FF4EAB-D0E2-4CCE-8838-28DFB1DF7E9F}" type="datetimeFigureOut">
              <a:rPr lang="es-ES" smtClean="0"/>
              <a:t>21/05/2026</a:t>
            </a:fld>
            <a:endParaRPr lang="es-E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684212" y="6172200"/>
            <a:ext cx="7543800" cy="365125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0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endParaRPr lang="es-E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363200" y="5578475"/>
            <a:ext cx="1142245" cy="6699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3200" b="0" i="0">
                <a:solidFill>
                  <a:schemeClr val="bg2">
                    <a:lumMod val="50000"/>
                  </a:schemeClr>
                </a:solidFill>
                <a:effectLst/>
                <a:latin typeface="+mn-lt"/>
              </a:defRPr>
            </a:lvl1pPr>
          </a:lstStyle>
          <a:p>
            <a:fld id="{C3D152C9-A868-4771-B0F6-D8234B5F8475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60749482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3600" kern="1200" cap="all">
          <a:ln w="3175" cmpd="sng">
            <a:noFill/>
          </a:ln>
          <a:solidFill>
            <a:schemeClr val="tx1"/>
          </a:solidFill>
          <a:effectLst/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2857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20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8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2pPr>
      <a:lvl3pPr marL="1200150" indent="-2857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6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3pPr>
      <a:lvl4pPr marL="15430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4pPr>
      <a:lvl5pPr marL="2000250" indent="-17145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spcAft>
          <a:spcPts val="600"/>
        </a:spcAft>
        <a:buClr>
          <a:schemeClr val="tx1"/>
        </a:buClr>
        <a:buSzPct val="80000"/>
        <a:buFont typeface="Wingdings 3" panose="05040102010807070707" pitchFamily="18" charset="2"/>
        <a:buChar char=""/>
        <a:defRPr sz="1400" kern="1200" cap="none">
          <a:solidFill>
            <a:schemeClr val="bg2">
              <a:lumMod val="75000"/>
            </a:schemeClr>
          </a:solidFill>
          <a:effectLst/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microsoft.com/office/2007/relationships/hdphoto" Target="../media/hdphoto1.wdp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Curso de Data Science Bootcamp - The Bridge | Digital Talent Accelerator |  Docenzia">
            <a:extLst>
              <a:ext uri="{FF2B5EF4-FFF2-40B4-BE49-F238E27FC236}">
                <a16:creationId xmlns:a16="http://schemas.microsoft.com/office/drawing/2014/main" id="{DC8AA9CC-3868-65F4-A2DC-1AF39A7E8CA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017277" y="5997677"/>
            <a:ext cx="2760726" cy="71088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CuadroTexto 7">
            <a:extLst>
              <a:ext uri="{FF2B5EF4-FFF2-40B4-BE49-F238E27FC236}">
                <a16:creationId xmlns:a16="http://schemas.microsoft.com/office/drawing/2014/main" id="{286815DE-D3A8-FF0A-E35F-B0302B755B80}"/>
              </a:ext>
            </a:extLst>
          </p:cNvPr>
          <p:cNvSpPr txBox="1"/>
          <p:nvPr/>
        </p:nvSpPr>
        <p:spPr>
          <a:xfrm>
            <a:off x="1200519" y="2743199"/>
            <a:ext cx="4895481" cy="19503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400" b="1" dirty="0"/>
              <a:t>Raul Rojo				DS</a:t>
            </a:r>
          </a:p>
          <a:p>
            <a:r>
              <a:rPr lang="es-ES" sz="2400" b="1" dirty="0"/>
              <a:t>Alejandro Ruiz		DS</a:t>
            </a:r>
          </a:p>
          <a:p>
            <a:r>
              <a:rPr lang="es-ES" sz="2400" b="1" dirty="0"/>
              <a:t>David Larreina		DS</a:t>
            </a:r>
          </a:p>
          <a:p>
            <a:r>
              <a:rPr lang="es-ES" sz="2400" b="1" dirty="0"/>
              <a:t>Carlos </a:t>
            </a:r>
            <a:r>
              <a:rPr lang="es-ES" sz="2400" b="1" dirty="0" err="1"/>
              <a:t>Pmendiola</a:t>
            </a:r>
            <a:r>
              <a:rPr lang="es-ES" sz="2400" b="1" dirty="0"/>
              <a:t>	FS</a:t>
            </a:r>
          </a:p>
          <a:p>
            <a:r>
              <a:rPr lang="es-ES" sz="2400" b="1" dirty="0"/>
              <a:t>Aldo Castillo		FS</a:t>
            </a:r>
          </a:p>
        </p:txBody>
      </p:sp>
      <p:sp>
        <p:nvSpPr>
          <p:cNvPr id="16" name="Rectángulo 15">
            <a:extLst>
              <a:ext uri="{FF2B5EF4-FFF2-40B4-BE49-F238E27FC236}">
                <a16:creationId xmlns:a16="http://schemas.microsoft.com/office/drawing/2014/main" id="{8A0A9BC3-BC2E-9DA4-6CDF-B20F2998D3DF}"/>
              </a:ext>
            </a:extLst>
          </p:cNvPr>
          <p:cNvSpPr/>
          <p:nvPr/>
        </p:nvSpPr>
        <p:spPr>
          <a:xfrm>
            <a:off x="1486226" y="425227"/>
            <a:ext cx="8911414" cy="1323439"/>
          </a:xfrm>
          <a:prstGeom prst="rect">
            <a:avLst/>
          </a:prstGeom>
          <a:noFill/>
        </p:spPr>
        <p:txBody>
          <a:bodyPr wrap="none" lIns="91440" tIns="45720" rIns="91440" bIns="45720">
            <a:spAutoFit/>
          </a:bodyPr>
          <a:lstStyle/>
          <a:p>
            <a:pPr algn="ctr"/>
            <a:r>
              <a:rPr lang="es-ES" sz="4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BBDD relacional para gestionar </a:t>
            </a:r>
          </a:p>
          <a:p>
            <a:pPr algn="ctr"/>
            <a:r>
              <a:rPr lang="es-ES" sz="4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información en </a:t>
            </a:r>
            <a:r>
              <a:rPr lang="es-ES" sz="4000" b="1" dirty="0" err="1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bootcamps</a:t>
            </a:r>
            <a:r>
              <a:rPr lang="es-ES" sz="4000" b="1" dirty="0">
                <a:ln w="0"/>
                <a:effectLst>
                  <a:outerShdw blurRad="38100" dist="19050" dir="2700000" algn="tl" rotWithShape="0">
                    <a:schemeClr val="dk1">
                      <a:alpha val="40000"/>
                    </a:schemeClr>
                  </a:outerShdw>
                </a:effectLst>
              </a:rPr>
              <a:t> de THB </a:t>
            </a:r>
          </a:p>
        </p:txBody>
      </p:sp>
      <p:pic>
        <p:nvPicPr>
          <p:cNvPr id="15" name="Imagen 14">
            <a:extLst>
              <a:ext uri="{FF2B5EF4-FFF2-40B4-BE49-F238E27FC236}">
                <a16:creationId xmlns:a16="http://schemas.microsoft.com/office/drawing/2014/main" id="{C95B41BA-15E1-8646-A618-5086061D68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879528" y="6096644"/>
            <a:ext cx="656034" cy="656034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FE75CDCA-D59C-667B-3109-21459E49DB46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742749" y="6096644"/>
            <a:ext cx="710888" cy="7108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53750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5490AB-482F-3E0E-60F8-6A6BA7097A9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25056957-DD46-43A8-D41D-052A97C74AFC}"/>
              </a:ext>
            </a:extLst>
          </p:cNvPr>
          <p:cNvSpPr txBox="1"/>
          <p:nvPr/>
        </p:nvSpPr>
        <p:spPr>
          <a:xfrm>
            <a:off x="727587" y="482145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/>
              <a:t>Modelo Lógico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5A6D49A0-5FD8-EA8C-CAF4-C5CAD714AA2B}"/>
              </a:ext>
            </a:extLst>
          </p:cNvPr>
          <p:cNvSpPr txBox="1"/>
          <p:nvPr/>
        </p:nvSpPr>
        <p:spPr>
          <a:xfrm>
            <a:off x="304798" y="1385813"/>
            <a:ext cx="3490453" cy="470898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/>
              <a:t>Entidades: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Proyectos_alumnos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Proyectos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Alumnos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Alumnos_promociones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Promociones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Cursos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Campus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Pro_pro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Profesores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Rol_profesor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Roles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s-ES" sz="2000" b="1" dirty="0"/>
              <a:t>Rol_profesor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es-ES" sz="2000" dirty="0"/>
          </a:p>
          <a:p>
            <a:endParaRPr lang="es-ES" sz="2000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5DCEEA27-7865-CB19-1CAC-B56A502EDCD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47768" y="1288131"/>
            <a:ext cx="8239434" cy="45238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04188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806C7033-999E-3BA7-ED2B-942676A0948C}"/>
              </a:ext>
            </a:extLst>
          </p:cNvPr>
          <p:cNvSpPr txBox="1"/>
          <p:nvPr/>
        </p:nvSpPr>
        <p:spPr>
          <a:xfrm>
            <a:off x="501445" y="531307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/>
              <a:t>Modelo Entidad-Relación</a:t>
            </a:r>
          </a:p>
        </p:txBody>
      </p:sp>
      <p:pic>
        <p:nvPicPr>
          <p:cNvPr id="7" name="Imagen 6">
            <a:extLst>
              <a:ext uri="{FF2B5EF4-FFF2-40B4-BE49-F238E27FC236}">
                <a16:creationId xmlns:a16="http://schemas.microsoft.com/office/drawing/2014/main" id="{4CC85C95-8532-51F1-4D5C-D5BAD285F17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9588" y="403350"/>
            <a:ext cx="6250307" cy="6051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876541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E10EDC-40BA-A8D3-0854-4C923E5CF4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3539D6D-9DA3-1C47-1998-EA4FD29E958E}"/>
              </a:ext>
            </a:extLst>
          </p:cNvPr>
          <p:cNvSpPr txBox="1"/>
          <p:nvPr/>
        </p:nvSpPr>
        <p:spPr>
          <a:xfrm>
            <a:off x="707663" y="323893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 err="1"/>
              <a:t>Create</a:t>
            </a:r>
            <a:r>
              <a:rPr lang="es-ES" sz="2800" b="1" dirty="0"/>
              <a:t> Table</a:t>
            </a:r>
          </a:p>
        </p:txBody>
      </p:sp>
      <p:pic>
        <p:nvPicPr>
          <p:cNvPr id="13" name="Imagen 12">
            <a:extLst>
              <a:ext uri="{FF2B5EF4-FFF2-40B4-BE49-F238E27FC236}">
                <a16:creationId xmlns:a16="http://schemas.microsoft.com/office/drawing/2014/main" id="{F01BF706-DD5A-BB37-741D-9C8DD5E453B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37160" y="1314393"/>
            <a:ext cx="4039164" cy="1790950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CD539F9A-ED96-1F0D-7ED2-06151DDF67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30700" y="1314393"/>
            <a:ext cx="4039164" cy="1790950"/>
          </a:xfrm>
          <a:prstGeom prst="rect">
            <a:avLst/>
          </a:prstGeom>
        </p:spPr>
      </p:pic>
      <p:pic>
        <p:nvPicPr>
          <p:cNvPr id="17" name="Imagen 16">
            <a:extLst>
              <a:ext uri="{FF2B5EF4-FFF2-40B4-BE49-F238E27FC236}">
                <a16:creationId xmlns:a16="http://schemas.microsoft.com/office/drawing/2014/main" id="{53B84C54-2DE4-A8FC-DB6E-129F191D833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7160" y="3752658"/>
            <a:ext cx="4039164" cy="1777682"/>
          </a:xfrm>
          <a:prstGeom prst="rect">
            <a:avLst/>
          </a:prstGeom>
        </p:spPr>
      </p:pic>
      <p:pic>
        <p:nvPicPr>
          <p:cNvPr id="19" name="Imagen 18">
            <a:extLst>
              <a:ext uri="{FF2B5EF4-FFF2-40B4-BE49-F238E27FC236}">
                <a16:creationId xmlns:a16="http://schemas.microsoft.com/office/drawing/2014/main" id="{FD7CB2C7-9F40-8DB4-B4C3-14BBC15680C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30700" y="3752658"/>
            <a:ext cx="4041300" cy="1790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654243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C0A2-0226-E7B6-5C4B-B994B8A86A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uadroTexto 3">
            <a:extLst>
              <a:ext uri="{FF2B5EF4-FFF2-40B4-BE49-F238E27FC236}">
                <a16:creationId xmlns:a16="http://schemas.microsoft.com/office/drawing/2014/main" id="{B6F3BCA6-9119-906A-33F2-25318CA7EC4B}"/>
              </a:ext>
            </a:extLst>
          </p:cNvPr>
          <p:cNvSpPr txBox="1"/>
          <p:nvPr/>
        </p:nvSpPr>
        <p:spPr>
          <a:xfrm>
            <a:off x="707663" y="323893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 err="1"/>
              <a:t>Create</a:t>
            </a:r>
            <a:r>
              <a:rPr lang="es-ES" sz="2800" b="1" dirty="0"/>
              <a:t> Table</a:t>
            </a:r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25B0BB56-BABD-4A4D-CB13-81CFE0A7B4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7663" y="1163870"/>
            <a:ext cx="4190352" cy="2631382"/>
          </a:xfrm>
          <a:prstGeom prst="rect">
            <a:avLst/>
          </a:prstGeom>
        </p:spPr>
      </p:pic>
      <p:pic>
        <p:nvPicPr>
          <p:cNvPr id="8" name="Imagen 7">
            <a:extLst>
              <a:ext uri="{FF2B5EF4-FFF2-40B4-BE49-F238E27FC236}">
                <a16:creationId xmlns:a16="http://schemas.microsoft.com/office/drawing/2014/main" id="{82819C47-B43B-F858-7C01-49B0F6BBB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6942" y="2772209"/>
            <a:ext cx="4612064" cy="301515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754998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D57220-B5C0-E8B6-C9DA-B93B9C239B2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94EB8F19-6794-3E91-9B11-E5FFACC1313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20000" contrast="20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518685" y="474150"/>
            <a:ext cx="5674452" cy="5909699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89669250-3091-7C06-18C1-DB4573568C79}"/>
              </a:ext>
            </a:extLst>
          </p:cNvPr>
          <p:cNvSpPr txBox="1"/>
          <p:nvPr/>
        </p:nvSpPr>
        <p:spPr>
          <a:xfrm>
            <a:off x="501445" y="531307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/>
              <a:t>Limpieza de datos</a:t>
            </a:r>
          </a:p>
        </p:txBody>
      </p:sp>
    </p:spTree>
    <p:extLst>
      <p:ext uri="{BB962C8B-B14F-4D97-AF65-F5344CB8AC3E}">
        <p14:creationId xmlns:p14="http://schemas.microsoft.com/office/powerpoint/2010/main" val="27348692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1E09F-FEFF-3A49-3FED-9937267706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63E81D54-9AD1-2FFA-6956-68AE82294880}"/>
              </a:ext>
            </a:extLst>
          </p:cNvPr>
          <p:cNvSpPr txBox="1"/>
          <p:nvPr/>
        </p:nvSpPr>
        <p:spPr>
          <a:xfrm>
            <a:off x="835742" y="461544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/>
              <a:t>Inserte </a:t>
            </a:r>
            <a:r>
              <a:rPr lang="es-ES" sz="2800" b="1" dirty="0" err="1"/>
              <a:t>Into</a:t>
            </a:r>
            <a:endParaRPr lang="es-ES" sz="2800" b="1"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29D392E-1127-7E47-7C67-B9761014B1E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65137" y="1395128"/>
            <a:ext cx="6668431" cy="40677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220985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9FB1AD-EEC8-7D57-C44B-E5FB410257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D46B4796-391D-A775-DABE-A13E002486BF}"/>
              </a:ext>
            </a:extLst>
          </p:cNvPr>
          <p:cNvSpPr txBox="1"/>
          <p:nvPr/>
        </p:nvSpPr>
        <p:spPr>
          <a:xfrm>
            <a:off x="835742" y="461544"/>
            <a:ext cx="5475621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s-ES" sz="2800" b="1" dirty="0"/>
              <a:t>Inserte </a:t>
            </a:r>
            <a:r>
              <a:rPr lang="es-ES" sz="2800" b="1" dirty="0" err="1"/>
              <a:t>Into</a:t>
            </a:r>
            <a:endParaRPr lang="es-ES" sz="2800" b="1" dirty="0"/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A7326489-0E6A-0F75-0266-2F7AB05512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80679" y="1308514"/>
            <a:ext cx="7872281" cy="38140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38362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03DFD-C633-18D3-6999-01126A58B2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uadroTexto 1">
            <a:extLst>
              <a:ext uri="{FF2B5EF4-FFF2-40B4-BE49-F238E27FC236}">
                <a16:creationId xmlns:a16="http://schemas.microsoft.com/office/drawing/2014/main" id="{F1D8B6C9-C3F6-75F4-7C39-9A9D7CE9D26A}"/>
              </a:ext>
            </a:extLst>
          </p:cNvPr>
          <p:cNvSpPr txBox="1"/>
          <p:nvPr/>
        </p:nvSpPr>
        <p:spPr>
          <a:xfrm>
            <a:off x="353961" y="966787"/>
            <a:ext cx="5475621" cy="61555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3200" b="1" dirty="0"/>
          </a:p>
          <a:p>
            <a:r>
              <a:rPr lang="es-ES" sz="2000" b="1" dirty="0"/>
              <a:t>Query1: Alumnos que han aprobado al menos un proyecto.</a:t>
            </a:r>
          </a:p>
          <a:p>
            <a:endParaRPr lang="es-ES" sz="2000" b="1" dirty="0"/>
          </a:p>
          <a:p>
            <a:r>
              <a:rPr lang="es-ES" sz="2000" b="1" dirty="0"/>
              <a:t>Query2: Profesores que tienen asignado un rol específico.</a:t>
            </a:r>
          </a:p>
          <a:p>
            <a:endParaRPr lang="es-ES" sz="2000" b="1" dirty="0"/>
          </a:p>
          <a:p>
            <a:r>
              <a:rPr lang="es-ES" sz="2000" b="1" dirty="0"/>
              <a:t>Query3: Consultar promociones con información del curso y campus.</a:t>
            </a:r>
          </a:p>
          <a:p>
            <a:endParaRPr lang="es-ES" sz="2000" b="1" dirty="0"/>
          </a:p>
          <a:p>
            <a:r>
              <a:rPr lang="es-ES" sz="2000" b="1" dirty="0"/>
              <a:t>Query4: Consultar alumnos asociados a promociones.</a:t>
            </a:r>
          </a:p>
          <a:p>
            <a:endParaRPr lang="es-ES" sz="2000" b="1" dirty="0"/>
          </a:p>
          <a:p>
            <a:r>
              <a:rPr lang="es-ES" sz="2000" b="1" dirty="0"/>
              <a:t>Query5: Consultar alumnos con su curso y campus.</a:t>
            </a:r>
          </a:p>
          <a:p>
            <a:endParaRPr lang="es-ES" dirty="0"/>
          </a:p>
          <a:p>
            <a:br>
              <a:rPr lang="es-ES" dirty="0"/>
            </a:br>
            <a:endParaRPr lang="es-ES" dirty="0"/>
          </a:p>
          <a:p>
            <a:endParaRPr lang="es-ES" sz="2800" b="1" dirty="0"/>
          </a:p>
        </p:txBody>
      </p:sp>
      <p:sp>
        <p:nvSpPr>
          <p:cNvPr id="3" name="CuadroTexto 2">
            <a:extLst>
              <a:ext uri="{FF2B5EF4-FFF2-40B4-BE49-F238E27FC236}">
                <a16:creationId xmlns:a16="http://schemas.microsoft.com/office/drawing/2014/main" id="{7F82819C-3F2E-5915-F5D7-B443495D5B08}"/>
              </a:ext>
            </a:extLst>
          </p:cNvPr>
          <p:cNvSpPr txBox="1"/>
          <p:nvPr/>
        </p:nvSpPr>
        <p:spPr>
          <a:xfrm>
            <a:off x="6095999" y="973189"/>
            <a:ext cx="5855110" cy="67095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endParaRPr lang="es-ES" sz="2800" b="1" dirty="0"/>
          </a:p>
          <a:p>
            <a:r>
              <a:rPr lang="es-ES" sz="2000" b="1" dirty="0"/>
              <a:t>Query6: Consultar profesores con curso asignado.</a:t>
            </a:r>
          </a:p>
          <a:p>
            <a:endParaRPr lang="es-ES" sz="2000" b="1" dirty="0"/>
          </a:p>
          <a:p>
            <a:r>
              <a:rPr lang="es-ES" sz="2000" b="1" dirty="0"/>
              <a:t>Query7: Consultar proyectos asignados a alumnos.</a:t>
            </a:r>
          </a:p>
          <a:p>
            <a:endParaRPr lang="es-ES" sz="2000" b="1" dirty="0"/>
          </a:p>
          <a:p>
            <a:r>
              <a:rPr lang="es-ES" sz="2000" b="1" dirty="0"/>
              <a:t>Query8: Alumnos que han suspendido al menos un proyecto.</a:t>
            </a:r>
          </a:p>
          <a:p>
            <a:endParaRPr lang="es-ES" sz="2000" b="1" dirty="0"/>
          </a:p>
          <a:p>
            <a:r>
              <a:rPr lang="es-ES" sz="2000" b="1" dirty="0"/>
              <a:t>Query9: Promedio de proyectos aprobados por campus (rendimiento por ubicación).</a:t>
            </a:r>
          </a:p>
          <a:p>
            <a:endParaRPr lang="es-ES" sz="2000" b="1" dirty="0"/>
          </a:p>
          <a:p>
            <a:r>
              <a:rPr lang="es-ES" sz="2000" b="1" dirty="0"/>
              <a:t>Query10: Detectar alumnos con rendimiento irregular: aprobaron los tres proyectos iniciales, pero suspendieron alguno de los dos finales</a:t>
            </a:r>
          </a:p>
          <a:p>
            <a:endParaRPr lang="es-ES" dirty="0"/>
          </a:p>
          <a:p>
            <a:br>
              <a:rPr lang="es-ES" dirty="0"/>
            </a:br>
            <a:endParaRPr lang="es-ES" dirty="0"/>
          </a:p>
          <a:p>
            <a:endParaRPr lang="es-ES" sz="2800" b="1" dirty="0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EB9BE432-18A6-50F3-3656-01773DFE7612}"/>
              </a:ext>
            </a:extLst>
          </p:cNvPr>
          <p:cNvSpPr txBox="1"/>
          <p:nvPr/>
        </p:nvSpPr>
        <p:spPr>
          <a:xfrm>
            <a:off x="1386348" y="258901"/>
            <a:ext cx="9419303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s-ES" sz="2000" b="1" dirty="0"/>
              <a:t>Por último, se realizaron una serie de consultas para comprobar que la base de datos funcionaba correctamente:</a:t>
            </a:r>
          </a:p>
        </p:txBody>
      </p:sp>
    </p:spTree>
    <p:extLst>
      <p:ext uri="{BB962C8B-B14F-4D97-AF65-F5344CB8AC3E}">
        <p14:creationId xmlns:p14="http://schemas.microsoft.com/office/powerpoint/2010/main" val="3230703573"/>
      </p:ext>
    </p:extLst>
  </p:cSld>
  <p:clrMapOvr>
    <a:masterClrMapping/>
  </p:clrMapOvr>
</p:sld>
</file>

<file path=ppt/theme/theme1.xml><?xml version="1.0" encoding="utf-8"?>
<a:theme xmlns:a="http://schemas.openxmlformats.org/drawingml/2006/main" name="Sector">
  <a:themeElements>
    <a:clrScheme name="Sector">
      <a:dk1>
        <a:sysClr val="windowText" lastClr="000000"/>
      </a:dk1>
      <a:lt1>
        <a:sysClr val="window" lastClr="FFFFFF"/>
      </a:lt1>
      <a:dk2>
        <a:srgbClr val="146194"/>
      </a:dk2>
      <a:lt2>
        <a:srgbClr val="76DBF4"/>
      </a:lt2>
      <a:accent1>
        <a:srgbClr val="052F61"/>
      </a:accent1>
      <a:accent2>
        <a:srgbClr val="A50E82"/>
      </a:accent2>
      <a:accent3>
        <a:srgbClr val="14967C"/>
      </a:accent3>
      <a:accent4>
        <a:srgbClr val="6A9E1F"/>
      </a:accent4>
      <a:accent5>
        <a:srgbClr val="E87D37"/>
      </a:accent5>
      <a:accent6>
        <a:srgbClr val="C62324"/>
      </a:accent6>
      <a:hlink>
        <a:srgbClr val="0D2E46"/>
      </a:hlink>
      <a:folHlink>
        <a:srgbClr val="356A95"/>
      </a:folHlink>
    </a:clrScheme>
    <a:fontScheme name="Sector">
      <a:maj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HY중고딕"/>
        <a:font script="Hans" typeface="幼圆"/>
        <a:font script="Hant" typeface="微軟正黑體"/>
        <a:font script="Arab" typeface="Tahoma"/>
        <a:font script="Hebr" typeface="Gisha"/>
        <a:font script="Thai" typeface="Dillenia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Sector">
      <a:fillStyleLst>
        <a:solidFill>
          <a:schemeClr val="phClr"/>
        </a:solidFill>
        <a:gradFill rotWithShape="1">
          <a:gsLst>
            <a:gs pos="0">
              <a:schemeClr val="phClr">
                <a:tint val="62000"/>
                <a:hueMod val="94000"/>
                <a:satMod val="140000"/>
                <a:lumMod val="110000"/>
              </a:schemeClr>
            </a:gs>
            <a:gs pos="100000">
              <a:schemeClr val="phClr">
                <a:tint val="84000"/>
                <a:satMod val="16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hueMod val="94000"/>
                <a:satMod val="130000"/>
                <a:lumMod val="128000"/>
              </a:schemeClr>
            </a:gs>
            <a:gs pos="100000">
              <a:schemeClr val="phClr">
                <a:shade val="94000"/>
                <a:lumMod val="88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>
              <a:tint val="76000"/>
              <a:alpha val="60000"/>
              <a:hueMod val="94000"/>
            </a:schemeClr>
          </a:solidFill>
          <a:prstDash val="solid"/>
        </a:ln>
        <a:ln w="15875" cap="rnd" cmpd="sng" algn="ctr">
          <a:solidFill>
            <a:schemeClr val="phClr">
              <a:hueMod val="94000"/>
            </a:schemeClr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innerShdw blurRad="25400" dist="12700" dir="13500000">
              <a:srgbClr val="000000">
                <a:alpha val="45000"/>
              </a:srgbClr>
            </a:innerShdw>
          </a:effectLst>
        </a:effectStyle>
        <a:effectStyle>
          <a:effectLst>
            <a:outerShdw blurRad="50800" dist="38100" dir="5400000" rotWithShape="0">
              <a:srgbClr val="000000">
                <a:alpha val="46000"/>
              </a:srgbClr>
            </a:outerShdw>
          </a:effectLst>
          <a:scene3d>
            <a:camera prst="orthographicFront">
              <a:rot lat="0" lon="0" rev="0"/>
            </a:camera>
            <a:lightRig rig="threePt" dir="t"/>
          </a:scene3d>
          <a:sp3d prstMaterial="plastic">
            <a:bevelT w="25400" h="25400"/>
          </a:sp3d>
        </a:effectStyle>
      </a:effectStyleLst>
      <a:bgFillStyleLst>
        <a:solidFill>
          <a:schemeClr val="phClr"/>
        </a:solidFill>
        <a:gradFill rotWithShape="1">
          <a:gsLst>
            <a:gs pos="1000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lin ang="6120000" scaled="1"/>
        </a:gradFill>
        <a:gradFill rotWithShape="1">
          <a:gsLst>
            <a:gs pos="0">
              <a:schemeClr val="phClr">
                <a:tint val="97000"/>
                <a:hueMod val="92000"/>
                <a:satMod val="169000"/>
                <a:lumMod val="164000"/>
              </a:schemeClr>
            </a:gs>
            <a:gs pos="100000">
              <a:schemeClr val="phClr">
                <a:shade val="96000"/>
                <a:satMod val="120000"/>
                <a:lumMod val="90000"/>
              </a:schemeClr>
            </a:gs>
          </a:gsLst>
          <a:path path="circle">
            <a:fillToRect b="10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Slice" id="{0507925B-6AC9-4358-8E18-C330545D08F8}" vid="{13FEC7C6-62A9-40C4-99D2-581AACACAA2F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TM03457444[[fn=Base]]</Template>
  <TotalTime>138</TotalTime>
  <Words>285</Words>
  <Application>Microsoft Office PowerPoint</Application>
  <PresentationFormat>Panorámica</PresentationFormat>
  <Paragraphs>59</Paragraphs>
  <Slides>9</Slides>
  <Notes>4</Notes>
  <HiddenSlides>0</HiddenSlides>
  <MMClips>0</MMClips>
  <ScaleCrop>false</ScaleCrop>
  <HeadingPairs>
    <vt:vector size="6" baseType="variant">
      <vt:variant>
        <vt:lpstr>Fuentes usadas</vt:lpstr>
      </vt:variant>
      <vt:variant>
        <vt:i4>4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9</vt:i4>
      </vt:variant>
    </vt:vector>
  </HeadingPairs>
  <TitlesOfParts>
    <vt:vector size="14" baseType="lpstr">
      <vt:lpstr>Arial</vt:lpstr>
      <vt:lpstr>Calibri</vt:lpstr>
      <vt:lpstr>Century Gothic</vt:lpstr>
      <vt:lpstr>Wingdings 3</vt:lpstr>
      <vt:lpstr>Sector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David</dc:creator>
  <cp:lastModifiedBy>alejandro ruiz garcia</cp:lastModifiedBy>
  <cp:revision>5</cp:revision>
  <dcterms:created xsi:type="dcterms:W3CDTF">2026-05-21T17:03:05Z</dcterms:created>
  <dcterms:modified xsi:type="dcterms:W3CDTF">2026-05-21T20:03:47Z</dcterms:modified>
</cp:coreProperties>
</file>